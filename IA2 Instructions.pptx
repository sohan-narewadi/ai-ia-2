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i+jtUZPw4t626CAMwMBZ+LAT1g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1" d="100"/>
          <a:sy n="71" d="100"/>
        </p:scale>
        <p:origin x="-456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29474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nXdddeZ4tQ" TargetMode="External"/><Relationship Id="rId7" Type="http://schemas.openxmlformats.org/officeDocument/2006/relationships/hyperlink" Target="https://www.youtube.com/watch?v=Jekzc6BM5_w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gauritr01/part-1-react-ai-agents-a-guide-to-smarter-ai-through-reasoning-and-action-d5841db39530" TargetMode="External"/><Relationship Id="rId5" Type="http://schemas.openxmlformats.org/officeDocument/2006/relationships/hyperlink" Target="https://www.youtube.com/watch?v=Wr0AsdR-I3k" TargetMode="External"/><Relationship Id="rId4" Type="http://schemas.openxmlformats.org/officeDocument/2006/relationships/hyperlink" Target="https://www.youtube.com/watch?v=crFcWa_9hK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AI – </a:t>
            </a:r>
            <a:r>
              <a:rPr lang="en-US" dirty="0"/>
              <a:t>I</a:t>
            </a:r>
            <a:r>
              <a:rPr lang="en-US" dirty="0" smtClean="0"/>
              <a:t>A 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r>
              <a:rPr lang="en-US" b="1">
                <a:solidFill>
                  <a:srgbClr val="C00000"/>
                </a:solidFill>
              </a:rPr>
              <a:t>Agentic AI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8735505" y="6165129"/>
            <a:ext cx="337479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Dr. </a:t>
            </a:r>
            <a:r>
              <a:rPr lang="en-US" sz="1800" b="1" dirty="0" smtClean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Ayesha Hakim</a:t>
            </a:r>
            <a:endParaRPr sz="18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94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C00000"/>
                </a:solidFill>
              </a:rPr>
              <a:t>Agentic AI: Extending Classical AI Agents</a:t>
            </a:r>
            <a:endParaRPr sz="3600" b="1">
              <a:solidFill>
                <a:srgbClr val="C00000"/>
              </a:solidFill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838200" y="1159497"/>
            <a:ext cx="10515600" cy="5561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classical AI, we study </a:t>
            </a:r>
            <a:r>
              <a:rPr lang="en-US" sz="2400" b="1"/>
              <a:t>intelligent agents</a:t>
            </a: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Perceive environment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Make decisions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Perform actions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Agentic AI</a:t>
            </a:r>
            <a:r>
              <a:rPr lang="en-US" sz="2400"/>
              <a:t> is a modern implementation of the same idea</a:t>
            </a:r>
            <a:endParaRPr sz="24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Difference: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Classical AI →    theory &amp; algorithms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Agentic AI →</a:t>
            </a:r>
            <a:r>
              <a:rPr lang="en-US" sz="2000" b="1"/>
              <a:t>    Practical, real-world execution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Agentic AI focuses on: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Goal-based behavior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Planning &amp; reasoning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Tool usage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Iterative decision making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</a:pPr>
            <a:r>
              <a:rPr lang="en-US" i="1">
                <a:solidFill>
                  <a:srgbClr val="C00000"/>
                </a:solidFill>
              </a:rPr>
              <a:t>Agentic AI = Classical AI agents + modern AI tools</a:t>
            </a:r>
            <a:endParaRPr i="1">
              <a:solidFill>
                <a:srgbClr val="C00000"/>
              </a:solidFill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02-03-2026</a:t>
            </a:r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5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C00000"/>
                </a:solidFill>
              </a:rPr>
              <a:t>Agentic AI System Architecture</a:t>
            </a:r>
            <a:endParaRPr sz="3600"/>
          </a:p>
        </p:txBody>
      </p:sp>
      <p:pic>
        <p:nvPicPr>
          <p:cNvPr id="104" name="Google Shape;104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62617" y="1122363"/>
            <a:ext cx="9266766" cy="505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02-03-2026</a:t>
            </a: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696798" y="138882"/>
            <a:ext cx="10515600" cy="832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C00000"/>
                </a:solidFill>
              </a:rPr>
              <a:t>Agentic AI Workflow</a:t>
            </a:r>
            <a:endParaRPr sz="3600"/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200" y="970961"/>
            <a:ext cx="10515600" cy="5206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1"/>
              <a:t>User Goal</a:t>
            </a: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User provides a goal, not a single command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Example: “Plan a 3-day trip to Goa”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1"/>
              <a:t>Reasoning &amp; Planning</a:t>
            </a: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Agent breaks goal into sub-tasks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Decides sequence of actions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1"/>
              <a:t>Tool Use</a:t>
            </a: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Agent uses tools when needed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Web search, calculator, calendar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 b="1"/>
              <a:t>Loop &amp; Result</a:t>
            </a: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Agent evaluates results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Repeats planning if required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Produces final complete output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  <p:sp>
        <p:nvSpPr>
          <p:cNvPr id="113" name="Google Shape;113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02-03-2026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75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C00000"/>
                </a:solidFill>
              </a:rPr>
              <a:t>Agentic AI System Architecture</a:t>
            </a:r>
            <a:endParaRPr sz="3600" b="1">
              <a:solidFill>
                <a:srgbClr val="C00000"/>
              </a:solidFill>
            </a:endParaRPr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1"/>
          </p:nvPr>
        </p:nvSpPr>
        <p:spPr>
          <a:xfrm>
            <a:off x="838200" y="1140644"/>
            <a:ext cx="10515600" cy="535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Orchestrator Agent (LLM)</a:t>
            </a: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Acts as the controller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Coordinates reasoning and actions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Planner</a:t>
            </a: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Decides what to do first, next, and last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Memory</a:t>
            </a: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Stores intermediate results and context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Tool APIs</a:t>
            </a: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Web Search →   information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Calculator →   numeric computation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Calendar →   scheduling</a:t>
            </a:r>
            <a:endParaRPr sz="20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b="1"/>
              <a:t>Final Output</a:t>
            </a: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Goal-complete response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  <p:sp>
        <p:nvSpPr>
          <p:cNvPr id="121" name="Google Shape;12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02-03-2026</a:t>
            </a:r>
            <a:endParaRPr/>
          </a:p>
        </p:txBody>
      </p:sp>
      <p:sp>
        <p:nvSpPr>
          <p:cNvPr id="122" name="Google Shape;12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09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C00000"/>
                </a:solidFill>
              </a:rPr>
              <a:t>Students Activity</a:t>
            </a:r>
            <a:endParaRPr sz="3600" b="1">
              <a:solidFill>
                <a:srgbClr val="C00000"/>
              </a:solidFill>
            </a:endParaRPr>
          </a:p>
        </p:txBody>
      </p:sp>
      <p:sp>
        <p:nvSpPr>
          <p:cNvPr id="128" name="Google Shape;128;p6"/>
          <p:cNvSpPr txBox="1">
            <a:spLocks noGrp="1"/>
          </p:cNvSpPr>
          <p:nvPr>
            <p:ph type="body" idx="1"/>
          </p:nvPr>
        </p:nvSpPr>
        <p:spPr>
          <a:xfrm>
            <a:off x="932468" y="128829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In this activity, you will: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Define a user goal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Describe how the agent plans the task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Identify which tools the agent uses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Explain the loop and final output</a:t>
            </a:r>
            <a:br>
              <a:rPr lang="en-US" sz="2400"/>
            </a:br>
            <a:endParaRPr sz="2400"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/>
          </a:p>
        </p:txBody>
      </p:sp>
      <p:sp>
        <p:nvSpPr>
          <p:cNvPr id="129" name="Google Shape;12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02-03-2026</a:t>
            </a:r>
            <a:endParaRPr/>
          </a:p>
        </p:txBody>
      </p:sp>
      <p:sp>
        <p:nvSpPr>
          <p:cNvPr id="130" name="Google Shape;13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>
            <a:spLocks noGrp="1"/>
          </p:cNvSpPr>
          <p:nvPr>
            <p:ph type="title"/>
          </p:nvPr>
        </p:nvSpPr>
        <p:spPr>
          <a:xfrm>
            <a:off x="668518" y="176590"/>
            <a:ext cx="10515600" cy="82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C00000"/>
                </a:solidFill>
              </a:rPr>
              <a:t>AI Tools &amp; Frameworks for Agentic AI Activity</a:t>
            </a:r>
            <a:endParaRPr sz="3600" b="1">
              <a:solidFill>
                <a:srgbClr val="C00000"/>
              </a:solidFill>
            </a:endParaRPr>
          </a:p>
        </p:txBody>
      </p:sp>
      <p:sp>
        <p:nvSpPr>
          <p:cNvPr id="136" name="Google Shape;136;p7"/>
          <p:cNvSpPr txBox="1">
            <a:spLocks noGrp="1"/>
          </p:cNvSpPr>
          <p:nvPr>
            <p:ph type="body" idx="1"/>
          </p:nvPr>
        </p:nvSpPr>
        <p:spPr>
          <a:xfrm>
            <a:off x="791066" y="999242"/>
            <a:ext cx="10515600" cy="5703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</a:pPr>
            <a:r>
              <a:rPr lang="en-US" sz="1800" b="1">
                <a:solidFill>
                  <a:srgbClr val="C00000"/>
                </a:solidFill>
              </a:rPr>
              <a:t>Agent Frameworks (Choose ONE)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 b="1"/>
              <a:t>AutoGen</a:t>
            </a:r>
            <a:endParaRPr sz="16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Multi-agent conversation framework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Agents communicate to solve tasks</a:t>
            </a:r>
            <a:endParaRPr sz="140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 b="1"/>
              <a:t>CrewAI</a:t>
            </a:r>
            <a:endParaRPr sz="16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Role-based agents (Planner, Executor, Reviewer)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Clear task delegation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 b="1"/>
              <a:t>ReAct-style Agents</a:t>
            </a:r>
            <a:endParaRPr sz="16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Reasoning + Action + Observation loop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Simple and well-aligned with AI syllabus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 b="1"/>
              <a:t>BrowserUse</a:t>
            </a:r>
            <a:endParaRPr sz="16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Agent interacts with browser/webpages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Useful for research and data collection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 b="1"/>
              <a:t>OpenRouter (Free API)</a:t>
            </a:r>
            <a:endParaRPr sz="16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Access to open-source LLMs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No paid subscription required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 b="1"/>
              <a:t>    LangChain</a:t>
            </a:r>
            <a:endParaRPr sz="1600" b="1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Framework for building LLM-powered applications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Provides agent orchestration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Supports tool integration (APIs, search, databases)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n-US" sz="1400"/>
              <a:t>Implements ReAct-style reasoning loop</a:t>
            </a:r>
            <a:endParaRPr sz="1400" b="1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</p:txBody>
      </p:sp>
      <p:sp>
        <p:nvSpPr>
          <p:cNvPr id="137" name="Google Shape;13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02-03-2026</a:t>
            </a:r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>
            <a:spLocks noGrp="1"/>
          </p:cNvSpPr>
          <p:nvPr>
            <p:ph type="title"/>
          </p:nvPr>
        </p:nvSpPr>
        <p:spPr>
          <a:xfrm>
            <a:off x="668518" y="176590"/>
            <a:ext cx="10515600" cy="82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C00000"/>
                </a:solidFill>
              </a:rPr>
              <a:t>AI Tools &amp; Frameworks for Agentic AI Activity</a:t>
            </a:r>
            <a:endParaRPr sz="3600" b="1">
              <a:solidFill>
                <a:srgbClr val="C00000"/>
              </a:solidFill>
            </a:endParaRPr>
          </a:p>
        </p:txBody>
      </p:sp>
      <p:sp>
        <p:nvSpPr>
          <p:cNvPr id="144" name="Google Shape;144;p8"/>
          <p:cNvSpPr txBox="1">
            <a:spLocks noGrp="1"/>
          </p:cNvSpPr>
          <p:nvPr>
            <p:ph type="body" idx="1"/>
          </p:nvPr>
        </p:nvSpPr>
        <p:spPr>
          <a:xfrm>
            <a:off x="791066" y="999242"/>
            <a:ext cx="10515600" cy="5703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</a:pPr>
            <a:r>
              <a:rPr lang="en-US" sz="2400" b="1">
                <a:solidFill>
                  <a:srgbClr val="C00000"/>
                </a:solidFill>
              </a:rPr>
              <a:t>Tools Integrated with Agents (Choose at least ONE)</a:t>
            </a:r>
            <a:endParaRPr/>
          </a:p>
          <a:p>
            <a:pPr marL="228600" lvl="0" indent="-76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C00000"/>
              </a:solidFill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Web Search APIs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Calculator tools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Google OAuth 2.0 (Google Calendar tasks)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File / document readers (PDF, text)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Simple databases (CSV / JSON)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Python tools (basic scripting, data processing)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C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C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r>
              <a:rPr lang="en-US" sz="2400" i="1">
                <a:solidFill>
                  <a:srgbClr val="C00000"/>
                </a:solidFill>
              </a:rPr>
              <a:t>Focus is on </a:t>
            </a:r>
            <a:r>
              <a:rPr lang="en-US" sz="2400" b="1" i="1">
                <a:solidFill>
                  <a:srgbClr val="C00000"/>
                </a:solidFill>
              </a:rPr>
              <a:t>agent behavior and reasoning</a:t>
            </a:r>
            <a:r>
              <a:rPr lang="en-US" sz="2400" i="1">
                <a:solidFill>
                  <a:srgbClr val="C00000"/>
                </a:solidFill>
              </a:rPr>
              <a:t>, not model training.</a:t>
            </a:r>
            <a:endParaRPr sz="2400" b="1" i="1">
              <a:solidFill>
                <a:srgbClr val="C00000"/>
              </a:solidFill>
            </a:endParaRP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</p:txBody>
      </p:sp>
      <p:sp>
        <p:nvSpPr>
          <p:cNvPr id="145" name="Google Shape;14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02-03-2026</a:t>
            </a: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 txBox="1">
            <a:spLocks noGrp="1"/>
          </p:cNvSpPr>
          <p:nvPr>
            <p:ph type="title"/>
          </p:nvPr>
        </p:nvSpPr>
        <p:spPr>
          <a:xfrm>
            <a:off x="696798" y="317991"/>
            <a:ext cx="10515600" cy="850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C00000"/>
                </a:solidFill>
              </a:rPr>
              <a:t>Example Problem Statements</a:t>
            </a:r>
            <a:endParaRPr sz="3600" b="1">
              <a:solidFill>
                <a:srgbClr val="C00000"/>
              </a:solidFill>
            </a:endParaRPr>
          </a:p>
        </p:txBody>
      </p:sp>
      <p:sp>
        <p:nvSpPr>
          <p:cNvPr id="152" name="Google Shape;152;p9"/>
          <p:cNvSpPr txBox="1">
            <a:spLocks noGrp="1"/>
          </p:cNvSpPr>
          <p:nvPr>
            <p:ph type="body" idx="1"/>
          </p:nvPr>
        </p:nvSpPr>
        <p:spPr>
          <a:xfrm>
            <a:off x="809920" y="1239624"/>
            <a:ext cx="10515600" cy="5618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2400" b="1"/>
              <a:t>Research Assistant Agent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Reads documents (PDF / text files)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Uses tools to retrieve information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Answers user questions based on content</a:t>
            </a:r>
            <a:endParaRPr sz="220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2400" b="1"/>
              <a:t>Google Calendar Scheduling Agent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Takes meeting details as input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Uses Google Calendar API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Automatically schedules the meeting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2400" b="1"/>
              <a:t>Academic Planner Agent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Creates a study schedule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Considers constraints (subjects, time, deadlines)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Adjusts plan dynamically</a:t>
            </a:r>
            <a:endParaRPr sz="220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2600" b="1"/>
              <a:t>Healthcare Information Agent (Non-Diagnostic)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Collects user symptoms (text input)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/>
              <a:t>Retrieves medical guidelines using web search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200" b="1"/>
              <a:t>Does NOT provide diagnosis</a:t>
            </a:r>
            <a:endParaRPr sz="220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000"/>
          </a:p>
        </p:txBody>
      </p:sp>
      <p:sp>
        <p:nvSpPr>
          <p:cNvPr id="153" name="Google Shape;153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02-03-2026</a:t>
            </a:r>
            <a:endParaRPr/>
          </a:p>
        </p:txBody>
      </p:sp>
      <p:sp>
        <p:nvSpPr>
          <p:cNvPr id="154" name="Google Shape;15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>
            <a:spLocks noGrp="1"/>
          </p:cNvSpPr>
          <p:nvPr>
            <p:ph type="title"/>
          </p:nvPr>
        </p:nvSpPr>
        <p:spPr>
          <a:xfrm>
            <a:off x="696798" y="317991"/>
            <a:ext cx="10515600" cy="850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C00000"/>
                </a:solidFill>
              </a:rPr>
              <a:t>Example Problem Statements</a:t>
            </a:r>
            <a:endParaRPr sz="3600" b="1">
              <a:solidFill>
                <a:srgbClr val="C00000"/>
              </a:solidFill>
            </a:endParaRPr>
          </a:p>
        </p:txBody>
      </p:sp>
      <p:sp>
        <p:nvSpPr>
          <p:cNvPr id="160" name="Google Shape;160;p10"/>
          <p:cNvSpPr txBox="1">
            <a:spLocks noGrp="1"/>
          </p:cNvSpPr>
          <p:nvPr>
            <p:ph type="body" idx="1"/>
          </p:nvPr>
        </p:nvSpPr>
        <p:spPr>
          <a:xfrm>
            <a:off x="809920" y="1239624"/>
            <a:ext cx="10515600" cy="5618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5"/>
            </a:pPr>
            <a:r>
              <a:rPr lang="en-US" sz="2400" b="1"/>
              <a:t>Job Application Assistant Agent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Analyzes Resume + Job Description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Identifies gaps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Suggests improvements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 startAt="5"/>
            </a:pPr>
            <a:r>
              <a:rPr lang="en-US" sz="2400" b="1"/>
              <a:t>Travel Planning Agent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Plans itinerary for a trip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Uses web search for places, costs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Applies reasoning to optimize plan</a:t>
            </a:r>
            <a:endParaRPr sz="2000"/>
          </a:p>
          <a:p>
            <a:pPr marL="685800" lvl="1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r>
              <a:rPr lang="en-US" sz="2400" i="1">
                <a:solidFill>
                  <a:srgbClr val="C00000"/>
                </a:solidFill>
              </a:rPr>
              <a:t>Each solution must demonstrate </a:t>
            </a:r>
            <a:r>
              <a:rPr lang="en-US" sz="2400" b="1" i="1">
                <a:solidFill>
                  <a:srgbClr val="C00000"/>
                </a:solidFill>
              </a:rPr>
              <a:t>Goal → Plan → Tool Use → Final Output</a:t>
            </a:r>
            <a:r>
              <a:rPr lang="en-US" sz="2400" i="1">
                <a:solidFill>
                  <a:srgbClr val="C00000"/>
                </a:solidFill>
              </a:rPr>
              <a:t>.</a:t>
            </a:r>
            <a:endParaRPr sz="2400" i="1">
              <a:solidFill>
                <a:srgbClr val="C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i="1">
              <a:solidFill>
                <a:srgbClr val="C0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r>
              <a:rPr lang="en-US" sz="2400" i="1">
                <a:solidFill>
                  <a:srgbClr val="C00000"/>
                </a:solidFill>
              </a:rPr>
              <a:t>“You are not building an AI model. You are designing an intelligent agent that can reason, plan, and use modern AI tools to achieve a goal.”</a:t>
            </a:r>
            <a:endParaRPr sz="2400" i="1">
              <a:solidFill>
                <a:srgbClr val="C00000"/>
              </a:solidFill>
            </a:endParaRPr>
          </a:p>
        </p:txBody>
      </p:sp>
      <p:sp>
        <p:nvSpPr>
          <p:cNvPr id="161" name="Google Shape;16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02-03-2026</a:t>
            </a:r>
            <a:endParaRPr/>
          </a:p>
        </p:txBody>
      </p:sp>
      <p:sp>
        <p:nvSpPr>
          <p:cNvPr id="162" name="Google Shape;16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68" name="Google Shape;168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Agentic AI Tutorial for Beginners | Langgraph Tutorial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Agents and Agentic Frameworks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Best Agentic AI Framework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6"/>
              </a:rPr>
              <a:t>Part 1 : ReACT AI Agents: A Guide to Smarter AI Through Reasoning and Action. | by Gauri | Medium</a:t>
            </a:r>
            <a:endParaRPr u="sng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7"/>
              </a:rPr>
              <a:t>Build Your First AI Agent in 20 Minutes (No Coding Required)</a:t>
            </a:r>
            <a:endParaRPr/>
          </a:p>
        </p:txBody>
      </p:sp>
      <p:sp>
        <p:nvSpPr>
          <p:cNvPr id="169" name="Google Shape;16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02-03-2026</a:t>
            </a:r>
            <a:endParaRPr/>
          </a:p>
        </p:txBody>
      </p:sp>
      <p:sp>
        <p:nvSpPr>
          <p:cNvPr id="170" name="Google Shape;17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Microsoft Office PowerPoint</Application>
  <PresentationFormat>Custom</PresentationFormat>
  <Paragraphs>144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AI – IA 2</vt:lpstr>
      <vt:lpstr>Agentic AI: Extending Classical AI Agents</vt:lpstr>
      <vt:lpstr>Agentic AI System Architecture</vt:lpstr>
      <vt:lpstr>Agentic AI Workflow</vt:lpstr>
      <vt:lpstr>Agentic AI System Architecture</vt:lpstr>
      <vt:lpstr>Students Activity</vt:lpstr>
      <vt:lpstr>AI Tools &amp; Frameworks for Agentic AI Activity</vt:lpstr>
      <vt:lpstr>AI Tools &amp; Frameworks for Agentic AI Activity</vt:lpstr>
      <vt:lpstr>Example Problem Statements</vt:lpstr>
      <vt:lpstr>Example Problem Statements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– IA 2</dc:title>
  <dc:creator>Admin</dc:creator>
  <cp:lastModifiedBy>Admin</cp:lastModifiedBy>
  <cp:revision>1</cp:revision>
  <dcterms:created xsi:type="dcterms:W3CDTF">2026-02-09T06:40:36Z</dcterms:created>
  <dcterms:modified xsi:type="dcterms:W3CDTF">2026-08-25T19:47:43Z</dcterms:modified>
</cp:coreProperties>
</file>